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O26V6kTnjMLyO7hAfAOJuVU8u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36576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InvoiceFlow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0241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GST Invoice &amp; Business Management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937760" y="3657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Carried Out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937760" y="713232"/>
            <a:ext cx="365760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937760" y="822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Dharmik Parmar  (22CEUES090)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937760" y="117043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B.Tech – Computer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Dharmsinh Desai University, Nadiad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937760" y="17190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Company:  RKIT Software Pvt. Ltd., Rajkot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9260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Internal 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273552"/>
            <a:ext cx="365760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3364992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Prof. Shaifali Malukani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Dept. of Comp. Engg.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DDU, Nadiad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937760" y="29260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External Guide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937760" y="3273552"/>
            <a:ext cx="365760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937760" y="3364992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Ms. Yashvi Shah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Project Coordinator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RKIT Software Pvt. Ltd.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Objective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InvoiceFlow?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12344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full-stack, cloud-ready GST Invoice and Business Management System for Indian SMEs </a:t>
            </a:r>
            <a:r>
              <a:rPr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automating invoicing, GST calculation, payments and compliance reporting from one platform.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1480" y="182880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Objectives: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75" y="2266798"/>
            <a:ext cx="81381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Times New Roman"/>
              <a:buChar char="●"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 GST-compliant invoicing reduce manual effort and billing errors for Indian SMEs.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Times New Roman"/>
              <a:buChar char="●"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 CGST+SGST vs IGST computation using HSN/SAC code-based detection.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Times New Roman"/>
              <a:buChar char="●"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receivables through payment entries, outstanding balances, and AR aging reports.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Times New Roman"/>
              <a:buChar char="●"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secure team collaboration via role-based access (Admin / Accountant / Viewer).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Times New Roman"/>
              <a:buChar char="●"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GST-ready reports GSTR-1 style summaries, GST output vs input net liability.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Users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roles with distinct access levels: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94388" y="1283948"/>
            <a:ext cx="81381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AutoNum type="arabicPeriod"/>
            </a:pPr>
            <a:r>
              <a:rPr b="1" i="0" lang="en-US" sz="14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:</a:t>
            </a:r>
            <a:r>
              <a:rPr i="0" lang="en-US" sz="14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Full control — manage users, invite/approve team, configure roles &amp; permissions, view all analytics, override GST rates (AUTO vs MANUAL).</a:t>
            </a:r>
            <a:endParaRPr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AutoNum type="arabicPeriod"/>
            </a:pPr>
            <a:r>
              <a:rPr b="1" i="0" lang="en-US" sz="14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Accountant :</a:t>
            </a:r>
            <a:r>
              <a:rPr i="0" lang="en-US" sz="14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Operational access — create and manage invoices, manage customer/vendor masters, record payments, generate reports. Cannot manage roles.</a:t>
            </a:r>
            <a:endParaRPr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06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AutoNum type="arabicPeriod"/>
            </a:pPr>
            <a:r>
              <a:rPr b="1" i="0" lang="en-US" sz="14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Viewer :</a:t>
            </a:r>
            <a:r>
              <a:rPr i="0" lang="en-US" sz="14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Read-only access — view invoices, dashboard and reports. No creation or edit rights.</a:t>
            </a:r>
            <a:endParaRPr i="0" sz="1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11480" y="3321484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Authorization pattern in API: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02925" y="3776450"/>
            <a:ext cx="81381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endpoints → [Authorize]     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Mutations → [Authorize(Roles="Admin,Accountant")]     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Admin-only → [Authorize(Roles="Admin")]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11480" y="8686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&amp; GST Engine: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11475" y="1216150"/>
            <a:ext cx="3931800" cy="174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Draft → Sent → Partial → Paid / Overdue / Cancelled.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HSN/SAC longest-prefix matching</a:t>
            </a:r>
            <a:r>
              <a:rPr lang="en-US" sz="13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auto-detects GST rate (0/5/12/18/28%).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Intrastate: CGST + SGST split equally. </a:t>
            </a:r>
            <a:br>
              <a:rPr lang="en-US" sz="13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Interstate: full IGST.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11480" y="301752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Operations: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11480" y="3364949"/>
            <a:ext cx="3931800" cy="157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Customer, vendor and product master data with soft-delete.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posting with outstanding validation and auto status transitions.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Business-scoped multi-tenant isolation</a:t>
            </a:r>
            <a:r>
              <a:rPr lang="en-US" sz="13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every query filtered by business.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&amp; Access: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925" y="1216150"/>
            <a:ext cx="4114800" cy="174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Invitation-based onboarding with token-validated self-registration.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approval before access granted.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secured sessions</a:t>
            </a:r>
            <a:r>
              <a:rPr lang="en-US" sz="13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auto-logout on 401.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663440" y="3017553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&amp; Reporting: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925" y="3364950"/>
            <a:ext cx="4114800" cy="157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Dashboard: FY KPIs, revenue trend, top customers, status counts.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Reports: GSTR-1 style, sales, AR aging, products, GST net summary.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to PDF and Excel; print-ready invoice views.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&amp; Tools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11480" y="8686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11482" y="1305733"/>
            <a:ext cx="3931800" cy="165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18 + TypeScript + Vite (SPA)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Router v6  |  TanStack React Query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Axios + fetch wrapper (dual API clients)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shadcn/ui + Radix + Tailwind CSS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Recharts  |  jsPDF + autoTable + xlsx for exports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11480" y="312724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&amp; Infrastructure: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11475" y="3642050"/>
            <a:ext cx="3931800" cy="94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MySQL 8.0 in Docker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Compose for container orchestration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seed scripts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709225" y="1294447"/>
            <a:ext cx="4023300" cy="1654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ASP.NET Core 8 Web API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Framework Core</a:t>
            </a:r>
            <a:r>
              <a:rPr lang="en-US" sz="135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Pomelo MySQL provider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JWT bearer authentication + BCrypt hashing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Swagger / OpenAPI with bearer token support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3-layer: InvoiceFlow.API → .Application → .Infrastructure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663440" y="3127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Tools: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663450" y="3642050"/>
            <a:ext cx="4023300" cy="94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18288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Studio 2022 (backend)  |  VS Code (frontend)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&amp; GitHub  |  Postman  |  MySQL Workbench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11480" y="228600"/>
            <a:ext cx="850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Architecture </a:t>
            </a:r>
            <a:r>
              <a:rPr lang="en-US" sz="2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Layered Design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11480" y="731520"/>
            <a:ext cx="8321100" cy="2280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11480" y="868680"/>
            <a:ext cx="8321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Three-layer structure: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11478" y="3309945"/>
            <a:ext cx="291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Middleware pipeline order: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797900" y="3309950"/>
            <a:ext cx="194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 lifetimes: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6950050" y="1289130"/>
            <a:ext cx="1556100" cy="189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Domain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POCO Models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DTOs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67600" y="1290955"/>
            <a:ext cx="1900800" cy="1880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Layer</a:t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HTTP contracts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Controllers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Auth attributes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Input validation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Response shaping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Swagger</a:t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2602250" y="1290955"/>
            <a:ext cx="1944300" cy="1880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  </a:t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orchestration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IAuthService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IUserService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IApprovalService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IEmailService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4797900" y="1290955"/>
            <a:ext cx="1900800" cy="189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Layer</a:t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t/>
            </a:r>
            <a:endParaRPr b="1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EF Core DbContext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Entity mapping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MySQL persistence 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Tenant-scoped queries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487925" y="3700075"/>
            <a:ext cx="4058700" cy="126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CORS  →  Swagger (dev only)  →  Authentication  →  Authorization  →  Controller endpoints</a:t>
            </a:r>
            <a:endParaRPr sz="1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4797900" y="3700075"/>
            <a:ext cx="3708300" cy="126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Scoped: AuthService, UserService, ApprovalService, EmailService</a:t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Singleton: GstMappingService</a:t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of the System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1480" y="841248"/>
            <a:ext cx="8321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9999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System Flow / Sequence Diagram ]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11480" y="416052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summary: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481275" y="4562375"/>
            <a:ext cx="8251200" cy="42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  →  JWT issued  →  Role check  →  Invoice / Customer / GST Engine  →  Invoice saved  →  Report / Export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GST Calculation Engine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11475" y="868675"/>
            <a:ext cx="7618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Interstate vs Intrastate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determined by comparing Business State vs Customer State: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02925" y="1411326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Taxable value (per line):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108950" y="1419060"/>
            <a:ext cx="571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Taxable  =  Qty × UnitPrice × (1 − Discount/100)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02920" y="1821319"/>
            <a:ext cx="8229600" cy="165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02925" y="1937528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Intrastate (CGST + SGST):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108950" y="1952911"/>
            <a:ext cx="5715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CGST  =  Taxable × Rate/200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SGST  =  Taxable × Rate/200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02920" y="2465383"/>
            <a:ext cx="8229600" cy="165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02925" y="2614691"/>
            <a:ext cx="24690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Interstate (IGST):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3108950" y="2589853"/>
            <a:ext cx="571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IGST  =  Taxable × Rate/100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02920" y="3023037"/>
            <a:ext cx="8229600" cy="165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02925" y="3169153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total: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108950" y="3176887"/>
            <a:ext cx="571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 =  Taxable + CGST + SGST + IGST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02920" y="3645441"/>
            <a:ext cx="8229600" cy="165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95190" y="3725268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no. format: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101215" y="3740737"/>
            <a:ext cx="571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ourier New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invoicePrefix + "-" + zeroPad(counter, 4)  →  INV-0012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11470" y="10431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00278" y="4134541"/>
            <a:ext cx="8229600" cy="16500"/>
          </a:xfrm>
          <a:prstGeom prst="rect">
            <a:avLst/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101225" y="4259736"/>
            <a:ext cx="571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  ·  5%  ·  12%  ·  18%  ·  28%  - HSN/SAC longest-prefix matching</a:t>
            </a:r>
            <a:endParaRPr sz="13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95190" y="4280641"/>
            <a:ext cx="2469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GST rates:</a:t>
            </a:r>
            <a:endParaRPr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Creation Flow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02920" y="896112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opens invoice create page — frontend loads customers, products, and GST rates in parallel (Promise.all).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selects customer and adds line items with quantities and discounts.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submit → POST /api/invoices — backend validates customer and GST rate references.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computes per-line taxable value, CGST/SGST or IGST based on state codes; aggregates invoice totals.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number generated: invoicePrefix + zeroPad(counter, 4) — counter incremented atomically in same save.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starts as Draft. Accountant/Admin can transition: Draft → Sent → Paid/Partial/Overdue/Cancelled.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Admin-only: Cancel action sets status = 'cancelled' — no physical row deletion (audit trail preserved).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Reconciliation Logic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 enforced on every payment: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02925" y="1289024"/>
            <a:ext cx="82296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post payment on a cancelled invoice.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 must be &gt; 0 and cannot exceed outstanding balance.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Outstanding  =  Total Amount  −  Amount Paid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11480" y="23957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transitions on payment create: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02920" y="276148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i="0" lang="en-US" sz="14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amountPaid ≥ totalAmount  →  'paid'     else  →  'partial'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11480" y="32186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transitions on payment delete (reverse):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02920" y="358444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i="0" lang="en-US" sz="14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amountPaid ≤ 0  →  'sent'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i="0" lang="en-US" sz="14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amountPaid &lt; total  →  'partial'     else  →  'paid'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11480" y="42245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status lifecycle: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draft  →  sent  →  partial  →  paid  →  overdue  →  cancelled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&amp; User Onboarding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 endpoints (AuthController):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502925" y="1268475"/>
            <a:ext cx="82296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/api/auth/register </a:t>
            </a:r>
            <a:r>
              <a:rPr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self-registration (basic).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/api/auth/login </a:t>
            </a:r>
            <a:r>
              <a:rPr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credentials login → JWT issued.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 /api/auth/me </a:t>
            </a:r>
            <a:r>
              <a:rPr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resolve current user, role, approval status, business metadata.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/api/auth/google </a:t>
            </a:r>
            <a:r>
              <a:rPr lang="en-US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OAuth code exchange → local JWT issued.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411480" y="285292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Invite &amp; approval flow: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57200" y="3356825"/>
            <a:ext cx="82296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creates invitation link with role assignment and expiry.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Invitee opens tokenized URL → validates token via public API endpoint.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Invitee submits credentials → pending user created, invitation marked accepted.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reviews pending entries → approves or rejects via AdminUsersController.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approval: final role assigned, user status activated → user can now log in.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Implementation Details – Backend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Tenant scoping pattern (applied in every controller):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502920" y="1261872"/>
            <a:ext cx="822960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userId     = JWT.claims(NameIdentifier)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businessId = users.where(id==userId).select(BusinessProfileId)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records    = table.where(BusinessId == businessId)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11480" y="23042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Soft-delete strategy: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57200" y="2763002"/>
            <a:ext cx="82296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Customers: hard delete only if no dependent invoices; otherwise deactivate (is_active = 0).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Vendors: always soft-deactivate — preserves purchase invoice history.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Products: hard delete blocked if referenced by any invoice line item.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Invoices: cancel sets status = 'cancelled' — no physical row deletion.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Rationale: preserve accounting/audit trail; avoid orphan references in historical reports.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Implementation Details – Frontend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1148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AuthContext state machine: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502920" y="1261872"/>
            <a:ext cx="40233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Boot: reads token from localStorage.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token: calls me() to hydrate user, role, business profile.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Derives flags: isAdmin · isAccountant · canModify · isPendingApproval.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 me() failure: clears token → redirects to /auth.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AppLayout guard: if !loading &amp;&amp; !user → navigate('/auth').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11480" y="340156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Axios interceptors: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02920" y="3794760"/>
            <a:ext cx="40233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Request: injects Authorization: Bearer &lt;token&gt;.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Response: HTTP 401 → remove token + redirect to /auth.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Centralizes session handling — no scattered auth checks in pages.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fetch patterns: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4754880" y="1261872"/>
            <a:ext cx="40233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Promise.all for form bootstrapping (customers + products + rates loaded in parallel).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React Query for caching with stale-while-revalidate.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Toast feedback for success/failure visibility.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Local state patch after mutations — avoids full page refetch.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663440" y="340156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Dual API clients (known issue):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754880" y="3794760"/>
            <a:ext cx="40233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Axios services in /src/api/ for most feature endpoints.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Separate fetch wrapper in /src/lib/api.ts also in use.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Consolidation recommended for production — avoids contract drift.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i="0" lang="en-US" sz="2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Reports &amp; Analytics</a:t>
            </a:r>
            <a:endParaRPr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41148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reports: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02950" y="1261875"/>
            <a:ext cx="4023300" cy="208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GSTR-1 Style — outward supply by GST rate (month/year).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Report — date-range sales by customer with tax breakdown.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Aging — bucketed receivables: Current · 1-30 · 31-60 · 61-90 · 90+ days.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Products Report — sales volume and revenue per product.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388251" y="3449645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GST summary logic: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79730" y="3796824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ourier New"/>
              <a:buNone/>
            </a:pPr>
            <a:r>
              <a:rPr i="0" lang="en-US" sz="13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GST  =  Σ sales taxes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02945" y="4114705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ourier New"/>
              <a:buNone/>
            </a:pPr>
            <a:r>
              <a:rPr i="0" lang="en-US" sz="13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GST   =  Σ purchase taxes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95220" y="4432595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50"/>
              <a:buFont typeface="Courier New"/>
              <a:buNone/>
            </a:pPr>
            <a:r>
              <a:rPr i="0" lang="en-US" sz="135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GST     =  Output  −  Input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95220" y="4757285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1" lang="en-US" sz="12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(sent / partial / paid / overdue only — excludes draft &amp; cancelled)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KPIs: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754875" y="1261875"/>
            <a:ext cx="4023300" cy="208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invoices, Revenue Collected (FY), Pending Amount, Overdue Amount.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customers by revenue (current FY).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Invoice status distribution chart.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revenue trend (invoiced vs collected).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Export to PDF, Excel. Print-ready invoice view.</a:t>
            </a:r>
            <a:endParaRPr i="0" sz="1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/>
          <p:nvPr/>
        </p:nvSpPr>
        <p:spPr>
          <a:xfrm>
            <a:off x="372130" y="55425"/>
            <a:ext cx="850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Analysis – ER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372130" y="558345"/>
            <a:ext cx="8321100" cy="2280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" y="781800"/>
            <a:ext cx="8822825" cy="42949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/>
          <p:nvPr/>
        </p:nvSpPr>
        <p:spPr>
          <a:xfrm>
            <a:off x="411480" y="77100"/>
            <a:ext cx="850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Analysis – Use Case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11480" y="580020"/>
            <a:ext cx="8321100" cy="2280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700" y="696975"/>
            <a:ext cx="6189500" cy="4388824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411480" y="105975"/>
            <a:ext cx="8503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Analysis – Activity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411480" y="608895"/>
            <a:ext cx="8321100" cy="2280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411480" y="718623"/>
            <a:ext cx="8321100" cy="40233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411480" y="718623"/>
            <a:ext cx="83211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Activity Diagram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718625"/>
            <a:ext cx="8321050" cy="4345525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Analysis – Data Flow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411480" y="841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Level-0 DFD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411480" y="1188720"/>
            <a:ext cx="4114800" cy="260604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411480" y="1188720"/>
            <a:ext cx="41148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Level-0 DFD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4663440" y="841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Level-1 DFD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4663440" y="1188720"/>
            <a:ext cx="4114800" cy="260604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4663440" y="1188720"/>
            <a:ext cx="41148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Level-1 DFD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411480" y="3913632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data flows: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02920" y="429768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Admin ↔ InvoiceFlow: user management, roles, approvals, dashboard.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Accountant ↔ InvoiceFlow: invoice create, customer/vendor mgmt, payment posting.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Viewer ↔ InvoiceFlow: read-only report and dashboard access.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Role And Permission Page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411480" y="841248"/>
            <a:ext cx="8321040" cy="36576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411480" y="841248"/>
            <a:ext cx="83210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Role &amp; Permissions Page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Permission model: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502920" y="49194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Each module has independent Can View / Can Add-Edit / Can Delete toggles. Super Admin has full access by default.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Dashboard &amp; Invoices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411480" y="841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11480" y="1188720"/>
            <a:ext cx="4114800" cy="22860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411480" y="118872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Dashboard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4663440" y="841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Invoices Page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663440" y="1188720"/>
            <a:ext cx="4114800" cy="22860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4663440" y="118872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Invoices Page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411480" y="36118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View &amp; Export Invoice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11480" y="3977640"/>
            <a:ext cx="8321040" cy="118872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411480" y="397764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Invoice Detail / Export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Customers, Vendors &amp; Reports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411480" y="841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Customers &amp; Vendors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11480" y="1188720"/>
            <a:ext cx="4114800" cy="22860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411480" y="118872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Customers / Vendors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663440" y="8412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Reports &amp; Analytics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663440" y="1188720"/>
            <a:ext cx="4114800" cy="22860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4663440" y="1188720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Reports / Charts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411480" y="361188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Invoice Generate &amp; Excel Export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411480" y="3977640"/>
            <a:ext cx="8321040" cy="118872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411480" y="3977640"/>
            <a:ext cx="8321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[ Invoice PDF + Excel Export Screenshot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502925" y="896101"/>
            <a:ext cx="8229600" cy="3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InvoiceFlow is a production-ready, GST-compliant invoicing platform covering the full lifecycle — onboarding, invoice generation, GST computation, payment tracking, and compliance reporting.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HSN/SAC longest-prefix GST engine eliminates manual tax selection and significantly reduces billing errors for Indian SMEs.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Invitation-based onboarding with role-based access (Admin/Accountant/Viewer) ensures controlled and auditable multi-user access.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Modern layered architecture React 18 + ASP.NET Core 8 + EF Core + MySQL maintainable, modular, and cloud-deployment ready.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Rich reporting: GSTR-1 style summaries, AR aging, product analytics, and GST output vs input net liability for data-driven compliance.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 incremental hardening (automated tests, API client consolidation, production CORS), the system is well-positioned for scale-up.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Limitations &amp; Future Extensions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41148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Limitations: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411475" y="1330450"/>
            <a:ext cx="4023300" cy="23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direct GSTN/IRP government API integration yet.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HSN mapping table requires periodic manual updates.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Cloud-based limited offline functionality.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Web-only no mobile application currently.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Dual frontend API clients (Axios + fetch) contract duplication.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CORS permissive in dev</a:t>
            </a:r>
            <a:r>
              <a:rPr lang="en-US" sz="13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must be restricted for production.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Future Extensions: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4754880" y="1261872"/>
            <a:ext cx="40233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GST Return Filing GSTN API for GSTR-1 &amp; GSTR-3B auto-filing.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E-Invoicing IRP integration for IRN + QR codes.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E-Way Bill generation via NIC APIs.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AI-based HSN/SAC suggestion from product descriptions.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React Native mobile application.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Automated test suite: unit + integration + API contract.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Formal invoice state machine to prevent status drift.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/>
        </p:nvSpPr>
        <p:spPr>
          <a:xfrm>
            <a:off x="411480" y="228600"/>
            <a:ext cx="8503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411480" y="731520"/>
            <a:ext cx="832104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411480" y="896112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960120" y="89611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ASP.NET Core 8 Web API Documentation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5166360" y="905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https://learn.microsoft.com/en-us/aspnet/core/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411480" y="1316736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960120" y="13167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Entity Framework Core — Pomelo MySQL Provider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5166360" y="132588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https://learn.microsoft.com/en-us/ef/core/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411480" y="1737360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960120" y="173736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JWT Authentication in ASP.NET Core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5166360" y="174650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https://learn.microsoft.com/en-us/aspnet/core/security/authentication/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11480" y="2157984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960120" y="215798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React 18 + TypeScript + Vite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166360" y="216712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https://vitejs.dev/  |  https://react.dev/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411480" y="257860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960120" y="257860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TanStack React Query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166360" y="258775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https://tanstack.com/query/latest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411480" y="2999232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960120" y="2999232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shadcn/ui + Radix + Tailwind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5166360" y="300837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https://ui.shadcn.com/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411480" y="3419856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960120" y="341985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Recharts — Charting Library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5166360" y="342900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https://recharts.org/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411480" y="3840480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[8]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960120" y="3840480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GST India — Official Portal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5166360" y="384962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https://www.gst.gov.in/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411480" y="4261104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[9]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960120" y="4261104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N-Tier Architecture (Azure)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5166360" y="42702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https://learn.microsoft.com/en-us/azure/architecture/guide/architecture-styles/n-tier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411480" y="468172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[10]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960120" y="4681728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Docker Compose Reference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5166360" y="469087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https://docs.docker.com/compose/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0" y="146304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0" y="26974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Do you have any 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3200400" y="3310128"/>
            <a:ext cx="2743200" cy="22860"/>
          </a:xfrm>
          <a:prstGeom prst="rect">
            <a:avLst/>
          </a:prstGeom>
          <a:solidFill>
            <a:srgbClr val="AAAAAA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0" y="34290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Dharmik Parmar  (22CEUES090)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B.Tech – Computer Engineering  |  Dharmsinh Desai University  |  April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2026-04-06T01:16:06Z</dcterms:created>
  <dc:creator>PptxGenJS</dc:creator>
</cp:coreProperties>
</file>